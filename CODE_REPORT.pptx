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1688824b3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1688824b3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1688824b3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1688824b3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1688824b3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1688824b3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1a3d0e73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1a3d0e73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1688824b3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1688824b3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1688824b3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1688824b3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1a3d0e73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1a3d0e73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1688824b3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1688824b3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a3d0e73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1a3d0e73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1232700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MPI-Based Heat Solver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904963"/>
            <a:ext cx="55092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ca">
                <a:solidFill>
                  <a:schemeClr val="accent1"/>
                </a:solidFill>
              </a:rPr>
              <a:t>A parallel implementation of the Jacobi method to solve heat distribution in a 1D domain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589700" y="3380700"/>
            <a:ext cx="4242600" cy="1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ca">
                <a:solidFill>
                  <a:schemeClr val="lt1"/>
                </a:solidFill>
              </a:rPr>
              <a:t>Tristan Arnuelos Burgueño 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ca">
                <a:solidFill>
                  <a:schemeClr val="lt1"/>
                </a:solidFill>
              </a:rPr>
              <a:t>Marina Liao Colom Escolà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ca">
                <a:solidFill>
                  <a:schemeClr val="lt1"/>
                </a:solidFill>
              </a:rPr>
              <a:t>HPCAE - 205204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ca">
                <a:solidFill>
                  <a:schemeClr val="lt1"/>
                </a:solidFill>
              </a:rPr>
              <a:t>Arnau Miró Jane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84375"/>
            <a:ext cx="2491999" cy="6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Project Overview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52550" y="1655700"/>
            <a:ext cx="366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Objective:</a:t>
            </a:r>
            <a:r>
              <a:rPr b="1" lang="ca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ca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Solve a 1D conduction heat problem of a composite wall.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52550" y="2643300"/>
            <a:ext cx="399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Method:</a:t>
            </a:r>
            <a:r>
              <a:rPr b="1" lang="ca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ca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Iterative solver (Jacobi method) with domain decomposition. Parallelized with MPI.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008975" y="789750"/>
            <a:ext cx="31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674" y="1371083"/>
            <a:ext cx="3155700" cy="310874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5209963" y="751350"/>
            <a:ext cx="34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latin typeface="Roboto"/>
                <a:ea typeface="Roboto"/>
                <a:cs typeface="Roboto"/>
                <a:sym typeface="Roboto"/>
              </a:rPr>
              <a:t>Problem raised:</a:t>
            </a:r>
            <a:endParaRPr sz="1800" u="sng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Code Structure: </a:t>
            </a:r>
            <a:r>
              <a:rPr b="1" lang="ca" sz="2000">
                <a:latin typeface="Roboto"/>
                <a:ea typeface="Roboto"/>
                <a:cs typeface="Roboto"/>
                <a:sym typeface="Roboto"/>
              </a:rPr>
              <a:t>main.c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008975" y="789750"/>
            <a:ext cx="31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300" y="1403500"/>
            <a:ext cx="3065701" cy="34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300" y="1403500"/>
            <a:ext cx="2802406" cy="34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300" y="500925"/>
            <a:ext cx="38487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Code Structure: </a:t>
            </a:r>
            <a:r>
              <a:rPr b="1" lang="ca" sz="2000">
                <a:latin typeface="Roboto"/>
                <a:ea typeface="Roboto"/>
                <a:cs typeface="Roboto"/>
                <a:sym typeface="Roboto"/>
              </a:rPr>
              <a:t>headers/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763" y="2571750"/>
            <a:ext cx="1993775" cy="17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404000" y="1368025"/>
            <a:ext cx="366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Header files with function prototypes and definitions.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 txBox="1"/>
          <p:nvPr>
            <p:ph type="title"/>
          </p:nvPr>
        </p:nvSpPr>
        <p:spPr>
          <a:xfrm>
            <a:off x="5004875" y="500925"/>
            <a:ext cx="38487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 Structure: </a:t>
            </a:r>
            <a:r>
              <a:rPr b="1" lang="ca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tests</a:t>
            </a:r>
            <a:r>
              <a:rPr b="1" lang="ca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097575" y="1368025"/>
            <a:ext cx="366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latin typeface="Roboto"/>
                <a:ea typeface="Roboto"/>
                <a:cs typeface="Roboto"/>
                <a:sym typeface="Roboto"/>
              </a:rPr>
              <a:t>Unit tests for Jacobi solver and mesh generator (serial).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4170" y="2287225"/>
            <a:ext cx="1710125" cy="9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5004875" y="3431425"/>
            <a:ext cx="366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lang="ca" sz="1800">
                <a:latin typeface="Roboto"/>
                <a:ea typeface="Roboto"/>
                <a:cs typeface="Roboto"/>
                <a:sym typeface="Roboto"/>
              </a:rPr>
              <a:t> test_mesh.c can be called from main.c, but test_jacobi.c has to be compiled and runned separately.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Code Structure: </a:t>
            </a:r>
            <a:r>
              <a:rPr b="1" lang="ca" sz="2000">
                <a:latin typeface="Roboto"/>
                <a:ea typeface="Roboto"/>
                <a:cs typeface="Roboto"/>
                <a:sym typeface="Roboto"/>
              </a:rPr>
              <a:t>sources/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52550" y="1534725"/>
            <a:ext cx="3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latin typeface="Roboto"/>
                <a:ea typeface="Roboto"/>
                <a:cs typeface="Roboto"/>
                <a:sym typeface="Roboto"/>
              </a:rPr>
              <a:t>mesh_generator.c:</a:t>
            </a:r>
            <a:r>
              <a:rPr b="1" lang="ca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ca" sz="1800">
                <a:latin typeface="Roboto"/>
                <a:ea typeface="Roboto"/>
                <a:cs typeface="Roboto"/>
                <a:sym typeface="Roboto"/>
              </a:rPr>
              <a:t>for generating local and global node positions and lambdas.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52550" y="2550525"/>
            <a:ext cx="399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latin typeface="Roboto"/>
                <a:ea typeface="Roboto"/>
                <a:cs typeface="Roboto"/>
                <a:sym typeface="Roboto"/>
              </a:rPr>
              <a:t>pre_solver.c:</a:t>
            </a:r>
            <a:r>
              <a:rPr b="1" lang="ca" sz="180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ca" sz="1800">
                <a:latin typeface="Roboto"/>
                <a:ea typeface="Roboto"/>
                <a:cs typeface="Roboto"/>
                <a:sym typeface="Roboto"/>
              </a:rPr>
              <a:t>for updating the halo and calculating the problem coefficients.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008975" y="789750"/>
            <a:ext cx="31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830" y="3465150"/>
            <a:ext cx="1902325" cy="13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4918038" y="1534725"/>
            <a:ext cx="399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latin typeface="Roboto"/>
                <a:ea typeface="Roboto"/>
                <a:cs typeface="Roboto"/>
                <a:sym typeface="Roboto"/>
              </a:rPr>
              <a:t>solver_jacobi.c:</a:t>
            </a:r>
            <a:r>
              <a:rPr b="1" lang="ca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ca" sz="1800">
                <a:latin typeface="Roboto"/>
                <a:ea typeface="Roboto"/>
                <a:cs typeface="Roboto"/>
                <a:sym typeface="Roboto"/>
              </a:rPr>
              <a:t>solves the matrix equation by the Jacobi method.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918050" y="2273625"/>
            <a:ext cx="399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latin typeface="Roboto"/>
                <a:ea typeface="Roboto"/>
                <a:cs typeface="Roboto"/>
                <a:sym typeface="Roboto"/>
              </a:rPr>
              <a:t>printing.c:</a:t>
            </a:r>
            <a:r>
              <a:rPr b="1" lang="ca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ca" sz="1800">
                <a:latin typeface="Roboto"/>
                <a:ea typeface="Roboto"/>
                <a:cs typeface="Roboto"/>
                <a:sym typeface="Roboto"/>
              </a:rPr>
              <a:t>for printing the problem statement, resolution method and results.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300" y="500925"/>
            <a:ext cx="4136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Memory allocation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008975" y="789750"/>
            <a:ext cx="31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6588661" y="20567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2393236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1967236" y="20767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2393236" y="2076713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245224" y="20767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2819236" y="20767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11300" y="1365350"/>
            <a:ext cx="38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local variables:</a:t>
            </a:r>
            <a:endParaRPr sz="18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311300" y="2096675"/>
            <a:ext cx="153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node positions xi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245350" y="2136650"/>
            <a:ext cx="58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Ni-1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2036400" y="2112125"/>
            <a:ext cx="58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918875" y="1142150"/>
            <a:ext cx="1532100" cy="82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GATHER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6160550" y="1322138"/>
            <a:ext cx="38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global </a:t>
            </a:r>
            <a:r>
              <a:rPr lang="ca" sz="1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variables:</a:t>
            </a:r>
            <a:endParaRPr sz="18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6008975" y="2076725"/>
            <a:ext cx="62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014661" y="20567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7440661" y="20567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866661" y="20567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7911675" y="2092175"/>
            <a:ext cx="58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N-1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11300" y="2820200"/>
            <a:ext cx="186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node lambdas </a:t>
            </a:r>
            <a:r>
              <a:rPr lang="ca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lamdasi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2819236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245236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671236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671225" y="2847913"/>
            <a:ext cx="58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Ni-1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588661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7014661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7440661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7866661" y="2800250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7898200" y="2835650"/>
            <a:ext cx="58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N-1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638350" y="2820200"/>
            <a:ext cx="102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lambdas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2393261" y="35591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819301" y="35591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245340" y="35591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671380" y="355917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967222" y="355917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097419" y="355917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4047213" y="361002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T[Ni+1]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3607200" y="361002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T[Ni]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54850" y="3579125"/>
            <a:ext cx="176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node temperatures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1879375" y="3983975"/>
            <a:ext cx="153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HALO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3959225" y="3983975"/>
            <a:ext cx="153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HALO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865000" y="3543725"/>
            <a:ext cx="125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588661" y="35437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014661" y="35437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7440661" y="35437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866661" y="35437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898200" y="3579125"/>
            <a:ext cx="58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N-1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958325" y="4071800"/>
            <a:ext cx="125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without halos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1361850" y="1563025"/>
            <a:ext cx="426000" cy="384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9"/>
          <p:cNvSpPr txBox="1"/>
          <p:nvPr>
            <p:ph type="title"/>
          </p:nvPr>
        </p:nvSpPr>
        <p:spPr>
          <a:xfrm>
            <a:off x="311300" y="500925"/>
            <a:ext cx="4136400" cy="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Parallelization with MPI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717036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143076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569115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995155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290997" y="224922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421194" y="224922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734761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160801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586840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8012880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308722" y="224922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8438919" y="224922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99286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125326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1551365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977405" y="2249225"/>
            <a:ext cx="426000" cy="42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73247" y="224922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403444" y="2249225"/>
            <a:ext cx="426000" cy="424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151375" y="1447075"/>
            <a:ext cx="1524000" cy="7551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9"/>
          <p:cNvSpPr/>
          <p:nvPr/>
        </p:nvSpPr>
        <p:spPr>
          <a:xfrm rot="10800000">
            <a:off x="5499850" y="2721075"/>
            <a:ext cx="1524000" cy="7551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9"/>
          <p:cNvSpPr/>
          <p:nvPr/>
        </p:nvSpPr>
        <p:spPr>
          <a:xfrm rot="10800000">
            <a:off x="2490650" y="2721075"/>
            <a:ext cx="1524000" cy="7551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058075" y="1447075"/>
            <a:ext cx="1524000" cy="7551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2339288" y="230007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T[Ni+1]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1977425" y="230007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T[Ni]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1361850" y="1563025"/>
            <a:ext cx="426000" cy="3849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P0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4955950" y="230007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T[Ni]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357013" y="230007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T[Ni+1]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3323588" y="230007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T[0]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358675" y="2300075"/>
            <a:ext cx="5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T[0]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359000" y="1563025"/>
            <a:ext cx="426000" cy="384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4359000" y="1563025"/>
            <a:ext cx="426000" cy="3849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P1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356150" y="1563025"/>
            <a:ext cx="426000" cy="384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356150" y="1563025"/>
            <a:ext cx="426000" cy="3849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P2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065375" y="653350"/>
            <a:ext cx="291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206675" y="500925"/>
            <a:ext cx="3155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Real nodes in light </a:t>
            </a:r>
            <a:r>
              <a:rPr lang="ca" sz="1300">
                <a:latin typeface="Roboto"/>
                <a:ea typeface="Roboto"/>
                <a:cs typeface="Roboto"/>
                <a:sym typeface="Roboto"/>
              </a:rPr>
              <a:t>yellow</a:t>
            </a:r>
            <a:r>
              <a:rPr lang="ca" sz="1300">
                <a:latin typeface="Roboto"/>
                <a:ea typeface="Roboto"/>
                <a:cs typeface="Roboto"/>
                <a:sym typeface="Roboto"/>
              </a:rPr>
              <a:t>, halos in light blue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Parallelization with MPI: halo update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008975" y="789750"/>
            <a:ext cx="31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924" y="1493200"/>
            <a:ext cx="6590199" cy="30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/>
        </p:nvSpPr>
        <p:spPr>
          <a:xfrm>
            <a:off x="5324750" y="1174650"/>
            <a:ext cx="31557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Rapidly decrease of time with few processors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Best performance at 32 processors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Significant increase of time at 64 processors.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Slow increase of time from 64 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1300" y="500925"/>
            <a:ext cx="4136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Scalability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4" name="Google Shape;214;p21" title="Pv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300" y="1174662"/>
            <a:ext cx="3943500" cy="29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/>
        </p:nvSpPr>
        <p:spPr>
          <a:xfrm>
            <a:off x="5324750" y="1174650"/>
            <a:ext cx="31557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Far from ideal behaviour </a:t>
            </a:r>
            <a:r>
              <a:rPr lang="ca" sz="1300">
                <a:latin typeface="Roboto"/>
                <a:ea typeface="Roboto"/>
                <a:cs typeface="Roboto"/>
                <a:sym typeface="Roboto"/>
              </a:rPr>
              <a:t>with</a:t>
            </a:r>
            <a:r>
              <a:rPr lang="ca" sz="1300">
                <a:latin typeface="Roboto"/>
                <a:ea typeface="Roboto"/>
                <a:cs typeface="Roboto"/>
                <a:sym typeface="Roboto"/>
              </a:rPr>
              <a:t> 4 processors or more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Convergence of speedup at about 80 processors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ca" sz="1300">
                <a:latin typeface="Roboto"/>
                <a:ea typeface="Roboto"/>
                <a:cs typeface="Roboto"/>
                <a:sym typeface="Roboto"/>
              </a:rPr>
              <a:t>Deterioration of </a:t>
            </a:r>
            <a:r>
              <a:rPr lang="ca" sz="1300">
                <a:latin typeface="Roboto"/>
                <a:ea typeface="Roboto"/>
                <a:cs typeface="Roboto"/>
                <a:sym typeface="Roboto"/>
              </a:rPr>
              <a:t>performance</a:t>
            </a:r>
            <a:r>
              <a:rPr lang="ca" sz="1300">
                <a:latin typeface="Roboto"/>
                <a:ea typeface="Roboto"/>
                <a:cs typeface="Roboto"/>
                <a:sym typeface="Roboto"/>
              </a:rPr>
              <a:t> due to communications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2"/>
          <p:cNvSpPr txBox="1"/>
          <p:nvPr>
            <p:ph type="title"/>
          </p:nvPr>
        </p:nvSpPr>
        <p:spPr>
          <a:xfrm>
            <a:off x="311300" y="500925"/>
            <a:ext cx="4136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Scalability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1" name="Google Shape;221;p22" title="PvsSpeedu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300" y="1174662"/>
            <a:ext cx="3943500" cy="29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